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3864"/>
                </a:solidFill>
                <a:latin typeface="Arial"/>
              </a:rPr>
              <a:t>Net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$#,##0</c:formatCode>
                <c:ptCount val="12"/>
                <c:pt idx="0">
                  <c:v>13617.19</c:v>
                </c:pt>
                <c:pt idx="1">
                  <c:v>17386.33</c:v>
                </c:pt>
                <c:pt idx="2">
                  <c:v>15188.96</c:v>
                </c:pt>
                <c:pt idx="3">
                  <c:v>14549.57</c:v>
                </c:pt>
                <c:pt idx="4">
                  <c:v>16139.09</c:v>
                </c:pt>
                <c:pt idx="5">
                  <c:v>16961.38</c:v>
                </c:pt>
                <c:pt idx="6">
                  <c:v>13684.61</c:v>
                </c:pt>
                <c:pt idx="7">
                  <c:v>14236.73</c:v>
                </c:pt>
                <c:pt idx="8">
                  <c:v>14416.89</c:v>
                </c:pt>
                <c:pt idx="9">
                  <c:v>15602.75</c:v>
                </c:pt>
                <c:pt idx="10">
                  <c:v>24130.03</c:v>
                </c:pt>
                <c:pt idx="11">
                  <c:v>26820.64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3864"/>
                </a:solidFill>
                <a:latin typeface="Arial"/>
              </a:rPr>
              <a:t>Gross and operating margin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circle"/>
            <c:size val="7"/>
            <c:spPr>
              <a:solidFill>
                <a:srgbClr val="1F3864"/>
              </a:solidFill>
              <a:ln>
                <a:solidFill>
                  <a:srgbClr val="1F386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0.300476089413455</c:v>
                </c:pt>
                <c:pt idx="1">
                  <c:v>0.300277861975471</c:v>
                </c:pt>
                <c:pt idx="2">
                  <c:v>0.289902007774067</c:v>
                </c:pt>
                <c:pt idx="3">
                  <c:v>0.305914195402338</c:v>
                </c:pt>
                <c:pt idx="4">
                  <c:v>0.308508100518679</c:v>
                </c:pt>
                <c:pt idx="5">
                  <c:v>0.30333793594625</c:v>
                </c:pt>
                <c:pt idx="6">
                  <c:v>0.314880000233839</c:v>
                </c:pt>
                <c:pt idx="7">
                  <c:v>0.297387813072243</c:v>
                </c:pt>
                <c:pt idx="8">
                  <c:v>0.327112158031309</c:v>
                </c:pt>
                <c:pt idx="9">
                  <c:v>0.320296101648748</c:v>
                </c:pt>
                <c:pt idx="10">
                  <c:v>0.298384626956535</c:v>
                </c:pt>
                <c:pt idx="11">
                  <c:v>0.319863358965334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spPr>
            <a:ln w="31750">
              <a:solidFill>
                <a:srgbClr val="C55A11"/>
              </a:solidFill>
            </a:ln>
          </c:spPr>
          <c:marker>
            <c:symbol val="circle"/>
            <c:size val="7"/>
            <c:spPr>
              <a:solidFill>
                <a:srgbClr val="C55A11"/>
              </a:solidFill>
              <a:ln>
                <a:solidFill>
                  <a:srgbClr val="C55A1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0.0629344233281611</c:v>
                </c:pt>
                <c:pt idx="1">
                  <c:v>0.0696783047371123</c:v>
                </c:pt>
                <c:pt idx="2">
                  <c:v>0.00556917655981708</c:v>
                </c:pt>
                <c:pt idx="3">
                  <c:v>0.0168870970069906</c:v>
                </c:pt>
                <c:pt idx="4">
                  <c:v>0.0773965570549517</c:v>
                </c:pt>
                <c:pt idx="5">
                  <c:v>0.087125575867058</c:v>
                </c:pt>
                <c:pt idx="6">
                  <c:v>0.0707488192940829</c:v>
                </c:pt>
                <c:pt idx="7">
                  <c:v>0.0593970666016705</c:v>
                </c:pt>
                <c:pt idx="8">
                  <c:v>0.100235210229113</c:v>
                </c:pt>
                <c:pt idx="9">
                  <c:v>0.0923664097675089</c:v>
                </c:pt>
                <c:pt idx="10">
                  <c:v>0.0680231230545507</c:v>
                </c:pt>
                <c:pt idx="11">
                  <c:v>0.0651680944228026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spending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$#,##0</c:formatCode>
                <c:ptCount val="12"/>
                <c:pt idx="0">
                  <c:v>12760.2</c:v>
                </c:pt>
                <c:pt idx="1">
                  <c:v>16129.13</c:v>
                </c:pt>
                <c:pt idx="2">
                  <c:v>15058.62</c:v>
                </c:pt>
                <c:pt idx="3">
                  <c:v>14258.12</c:v>
                </c:pt>
                <c:pt idx="4">
                  <c:v>14844.23</c:v>
                </c:pt>
                <c:pt idx="5">
                  <c:v>15437.86</c:v>
                </c:pt>
                <c:pt idx="6">
                  <c:v>12670.69</c:v>
                </c:pt>
                <c:pt idx="7">
                  <c:v>13345.36</c:v>
                </c:pt>
                <c:pt idx="8">
                  <c:v>12926.06</c:v>
                </c:pt>
                <c:pt idx="9">
                  <c:v>14115.83</c:v>
                </c:pt>
                <c:pt idx="10">
                  <c:v>22442.88</c:v>
                </c:pt>
                <c:pt idx="11">
                  <c:v>25027.04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9DC3E6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$#,##0</c:formatCode>
                <c:ptCount val="12"/>
                <c:pt idx="0">
                  <c:v>20000</c:v>
                </c:pt>
                <c:pt idx="1">
                  <c:v>20000</c:v>
                </c:pt>
                <c:pt idx="2">
                  <c:v>20000</c:v>
                </c:pt>
                <c:pt idx="3">
                  <c:v>20000</c:v>
                </c:pt>
                <c:pt idx="4">
                  <c:v>20000</c:v>
                </c:pt>
                <c:pt idx="5">
                  <c:v>20000</c:v>
                </c:pt>
                <c:pt idx="6">
                  <c:v>20000</c:v>
                </c:pt>
                <c:pt idx="7">
                  <c:v>20000</c:v>
                </c:pt>
                <c:pt idx="8">
                  <c:v>20000</c:v>
                </c:pt>
                <c:pt idx="9">
                  <c:v>20000</c:v>
                </c:pt>
                <c:pt idx="10">
                  <c:v>20000</c:v>
                </c:pt>
                <c:pt idx="11">
                  <c:v>20000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 b="1">
                <a:solidFill>
                  <a:srgbClr val="1F3864"/>
                </a:solidFill>
                <a:latin typeface="Arial"/>
              </a:rPr>
              <a:t>Merchandise sales by channel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Merchandise sales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2E75B6"/>
              </a:solidFill>
            </c:spPr>
          </c:dPt>
          <c:cat>
            <c:strRef>
              <c:f>Sheet1!$A$2:$A$3</c:f>
              <c:strCache>
                <c:ptCount val="2"/>
                <c:pt idx="0">
                  <c:v>eBay</c:v>
                </c:pt>
                <c:pt idx="1">
                  <c:v>Shopify</c:v>
                </c:pt>
              </c:strCache>
            </c:strRef>
          </c:cat>
          <c:val>
            <c:numRef>
              <c:f>Sheet1!$B$2:$B$3</c:f>
              <c:numCache>
                <c:formatCode>$#,##0</c:formatCode>
                <c:ptCount val="2"/>
                <c:pt idx="0">
                  <c:v>116479.68</c:v>
                </c:pt>
                <c:pt idx="1">
                  <c:v>84475.94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3864"/>
                </a:solidFill>
                <a:latin typeface="Arial"/>
              </a:rPr>
              <a:t>Gross margin by product line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Designer fragrance</c:v>
                </c:pt>
                <c:pt idx="1">
                  <c:v>Refills</c:v>
                </c:pt>
                <c:pt idx="2">
                  <c:v>Car Perfume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0.1921</c:v>
                </c:pt>
                <c:pt idx="1">
                  <c:v>0.8065</c:v>
                </c:pt>
                <c:pt idx="2">
                  <c:v>0.7241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3864"/>
                </a:solidFill>
                <a:latin typeface="Arial"/>
              </a:rPr>
              <a:t>Share of revenue by RFM segment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Hibernating</c:v>
                </c:pt>
                <c:pt idx="1">
                  <c:v>New</c:v>
                </c:pt>
                <c:pt idx="2">
                  <c:v>At risk</c:v>
                </c:pt>
                <c:pt idx="3">
                  <c:v>Needs attention</c:v>
                </c:pt>
                <c:pt idx="4">
                  <c:v>Champions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0.3182</c:v>
                </c:pt>
                <c:pt idx="1">
                  <c:v>0.2643</c:v>
                </c:pt>
                <c:pt idx="2">
                  <c:v>0.1612</c:v>
                </c:pt>
                <c:pt idx="3">
                  <c:v>0.1417</c:v>
                </c:pt>
                <c:pt idx="4">
                  <c:v>0.1146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Escentials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9DC3E6"/>
                </a:solidFill>
                <a:latin typeface="Arial"/>
              </a:rPr>
              <a:t>FY2025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Financial statements, budget performance, customers and the FY2026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9DC3E6"/>
                </a:solidFill>
                <a:latin typeface="Arial"/>
              </a:rPr>
              <a:t>Illustrative figures for privacy: modeled on the business's size, channels and products, not its actual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Prepared by George Murad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A profitable year, carried by the own brand line and a strong holiday season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Escentials LLC  ·  FY2025  ·  Illustrative figures for privacy: modeled on the business's size, channels and products, not its actual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39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$202.7K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Net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544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691639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30.7%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28600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Gross margin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691639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$13.2K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28600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Net income, 6.5% margin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5544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1691639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$13.3K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28600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Cash at December 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Arial"/>
              </a:rPr>
              <a:t>•  Car Perfume, the own brand line, is 14.9% of merchandise sales but 39.0% of product gross profit: the highest return on every dollar of shelf space.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262626"/>
                </a:solidFill>
                <a:latin typeface="Arial"/>
              </a:rPr>
              <a:t>•  Spending ran 21.2% under the flat $20,000 monthly budget, but Nov ran $2,443 over and Dec ran $5,027 over: phase the FY2026 budget by season.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262626"/>
                </a:solidFill>
                <a:latin typeface="Arial"/>
              </a:rPr>
              <a:t>•  eBay brings 58.0% of sales at higher order values; Shopify customers come back 1.9 times as often.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262626"/>
                </a:solidFill>
                <a:latin typeface="Arial"/>
              </a:rPr>
              <a:t>•  Base case FY2026: net revenue $223.0K and net income $15.8K, funding distributions from operating cash.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Revenue and profit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November and December carry the year; March and April are the soft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Escentials LLC  ·  FY2025  ·  Illustrative figures for privacy: modeled on the business's size, channels and products, not its actual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463040"/>
          <a:ext cx="57607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1463040"/>
          <a:ext cx="548640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Income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Year ended December 31,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Escentials LLC  ·  FY2025  ·  Illustrative figures for privacy: modeled on the business's size, channels and products, not its actual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583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% of net revenue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Merchandise sales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$200,956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99.1%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Shipping income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$7,631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3.8%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Discounts, returns and refunds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($5,853)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(2.9%)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$202,734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Cost of goods sold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$140,408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69.3%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Gross profit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$62,326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30.7%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Operating expenses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$49,111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24.2%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Operating income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$13,215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6.5%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Net income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$13,215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6.5%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•  Gross margin 30.7%: designer fragrance resells on thin margins; Car Perfume and refills run near 75%.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262626"/>
                </a:solidFill>
                <a:latin typeface="Arial"/>
              </a:rPr>
              <a:t>•  Fees and fulfillment are the largest costs after product: $33,786 together, 16.7% of revenue.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262626"/>
                </a:solidFill>
                <a:latin typeface="Arial"/>
              </a:rPr>
              <a:t>•  No income tax line: the LLC is a pass through entity.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Budget vs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Spending against the flat $20,000 monthly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Escentials LLC  ·  FY2025  ·  Illustrative figures for privacy: modeled on the business's size, channels and products, not its actual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463040"/>
          <a:ext cx="73152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0" y="1645920"/>
            <a:ext cx="3749039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•  Full year: $189,016 spent against $240,000, 21.2% under.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262626"/>
                </a:solidFill>
                <a:latin typeface="Arial"/>
              </a:rPr>
              <a:t>•  Over budget: Nov by $2,443, Dec by $5,027, the holiday peak.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262626"/>
                </a:solidFill>
                <a:latin typeface="Arial"/>
              </a:rPr>
              <a:t>•  Most under: Jul, by $7,329.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262626"/>
                </a:solidFill>
                <a:latin typeface="Arial"/>
              </a:rPr>
              <a:t>•  A flat budget hides seasonality. The FY2026 forecast phases it month by month.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Channels and product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Where the sales come from, and where the margin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Escentials LLC  ·  FY2025  ·  Illustrative figures for privacy: modeled on the business's size, channels and products, not its actual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463040"/>
          <a:ext cx="475488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0" y="1463040"/>
          <a:ext cx="630936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RFM segments and repeat purchase, from the CRM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Escentials LLC  ·  FY2025  ·  Illustrative figures for privacy: modeled on the business's size, channels and products, not its actual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463040"/>
          <a:ext cx="6035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1645920"/>
            <a:ext cx="50292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•  2,058 customers in the year; 23.6% bought more than once.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262626"/>
                </a:solidFill>
                <a:latin typeface="Arial"/>
              </a:rPr>
              <a:t>•  Shopify customers repeat at 29.5%, eBay at 15.7%: refills bring Car Perfume buyers back.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262626"/>
                </a:solidFill>
                <a:latin typeface="Arial"/>
              </a:rPr>
              <a:t>•  eBay buyers spend more per customer: $134 against $70.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262626"/>
                </a:solidFill>
                <a:latin typeface="Arial"/>
              </a:rPr>
              <a:t>•  Next step: win back the Hibernating segment with a refill reminder email.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Balance sheet and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December 31, 2025, against the January 1 opening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Escentials LLC  ·  FY2025  ·  Illustrative figures for privacy: modeled on the business's size, channels and products, not its actual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583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Dec 31, 2025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Jan 1, 2025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Cash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$13,286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$9,000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Accounts receivable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$2,596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$2,374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Inventory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$2,198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$700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Equipment, net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$1,144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Total assets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$19,223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$12,074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Accounts payable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$8,374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$8,019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Sales tax payable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$787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$708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Members' equity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$10,062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$3,347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Total liabilities and members' equity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$19,223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$12,074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•  Operations produced $12,433 of cash.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262626"/>
                </a:solidFill>
                <a:latin typeface="Arial"/>
              </a:rPr>
              <a:t>•  Equipment took $1,647; the member put in $2,500 and drew $9,000.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262626"/>
                </a:solidFill>
                <a:latin typeface="Arial"/>
              </a:rPr>
              <a:t>•  Cash rose from $9,000 to $13,286. No debt.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FY2026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Three scenarios from the forecast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Escentials LLC  ·  FY2025  ·  Illustrative figures for privacy: modeled on the business's size, channels and products, not its actual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03120"/>
                <a:gridCol w="210312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Net income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Net margin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Cash at year end</a:t>
                      </a:r>
                    </a:p>
                  </a:txBody>
                  <a:tcPr marL="73152" marR="73152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$223,008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$15,846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$18,882</a:t>
                      </a:r>
                    </a:p>
                  </a:txBody>
                  <a:tcPr marL="73152" marR="73152">
                    <a:solidFill>
                      <a:srgbClr val="EEF3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Upside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$243,281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$20,019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$19,354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Downside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$192,597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$10,253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5.3%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$18,088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91840"/>
            <a:ext cx="11064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Arial"/>
              </a:rPr>
              <a:t>•  Base: revenue grows 10.0% and gross margin improves 0.5 points as the own brand mix rises.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262626"/>
                </a:solidFill>
                <a:latin typeface="Arial"/>
              </a:rPr>
              <a:t>•  Upside: 20.0% growth. Downside: a 5.0% decline with margin pressure. Cash stays positive in all three.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262626"/>
                </a:solidFill>
                <a:latin typeface="Arial"/>
              </a:rPr>
              <a:t>•  The scenario switch on the Assumptions sheet reruns every line of the forecast.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Arial"/>
              </a:rPr>
              <a:t>How this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The same pipeline an FP&amp;A team runs every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Escentials LLC  ·  FY2025  ·  Illustrative figures for privacy: modeled on the business's size, channels and products, not its actual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920240" cy="173736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Arial"/>
              </a:rPr>
              <a:t>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06040"/>
            <a:ext cx="1700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Orders, refunds, expenses, customers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7480" y="2606040"/>
            <a:ext cx="457200" cy="365760"/>
          </a:xfrm>
          <a:prstGeom prst="rightArrow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920240"/>
            <a:ext cx="1920240" cy="173736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057400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Arial"/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606040"/>
            <a:ext cx="1700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Monthly summary, mix, CRM segments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32120" y="2606040"/>
            <a:ext cx="457200" cy="365760"/>
          </a:xfrm>
          <a:prstGeom prst="rightArrow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920240"/>
            <a:ext cx="1920240" cy="173736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057400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606040"/>
            <a:ext cx="1700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Statements and model, all formulas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66760" y="2606040"/>
            <a:ext cx="457200" cy="365760"/>
          </a:xfrm>
          <a:prstGeom prst="rightArrow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1920240"/>
            <a:ext cx="1920240" cy="1737360"/>
          </a:xfrm>
          <a:prstGeom prst="round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2057400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Arial"/>
              </a:rPr>
              <a:t>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606040"/>
            <a:ext cx="1700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PDF, Tableau, PowerPoint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Arial"/>
              </a:rPr>
              <a:t>•  15 integrity checks tie the pack together: the balance sheet balances every month, cash flow agrees with the balance sheet, and sales agree with SQL control totals.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262626"/>
                </a:solidFill>
                <a:latin typeface="Arial"/>
              </a:rPr>
              <a:t>•  Every statement traces back to the database; change an assumption and the whole pack updates.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262626"/>
                </a:solidFill>
                <a:latin typeface="Arial"/>
              </a:rPr>
              <a:t>•  Prepared by George Murad.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Escentials LLC FY2025 business review (illustrative figures)</dc:title>
  <dc:subject/>
  <dc:creator>George Murad</dc:creator>
  <cp:keywords/>
  <dc:description>Illustrative figures for privacy: modeled on the business's size, channels and products, not its actual results</dc:description>
  <cp:lastModifiedBy>George Murad</cp:lastModifiedBy>
  <cp:revision>1</cp:revision>
  <dcterms:created xsi:type="dcterms:W3CDTF">2026-09-27T04:21:41Z</dcterms:created>
  <dcterms:modified xsi:type="dcterms:W3CDTF">2026-09-27T04:21:41Z</dcterms:modified>
  <cp:category/>
</cp:coreProperties>
</file>